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Roboto Black"/>
      <p:bold r:id="rId19"/>
      <p:boldItalic r:id="rId20"/>
    </p:embeddedFont>
    <p:embeddedFont>
      <p:font typeface="Roboto Medium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Quattrocento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0"/>
        <p:guide pos="7392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Black-boldItalic.fntdata"/><Relationship Id="rId22" Type="http://schemas.openxmlformats.org/officeDocument/2006/relationships/font" Target="fonts/RobotoMedium-bold.fntdata"/><Relationship Id="rId21" Type="http://schemas.openxmlformats.org/officeDocument/2006/relationships/font" Target="fonts/RobotoMedium-regular.fntdata"/><Relationship Id="rId24" Type="http://schemas.openxmlformats.org/officeDocument/2006/relationships/font" Target="fonts/RobotoMedium-boldItalic.fntdata"/><Relationship Id="rId23" Type="http://schemas.openxmlformats.org/officeDocument/2006/relationships/font" Target="fonts/Roboto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Quattrocento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attrocentoSans-italic.fntdata"/><Relationship Id="rId30" Type="http://schemas.openxmlformats.org/officeDocument/2006/relationships/font" Target="fonts/Quattrocento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Quattrocento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Black-bold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301dc1eac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301dc1eac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b301dc1eac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ID=d924773e-9a16-4d6d-9803-8cb819e99682</a:t>
            </a:r>
            <a:br>
              <a:rPr lang="en-US"/>
            </a:br>
            <a:r>
              <a:rPr lang="en-US"/>
              <a:t>Recipe=text_billboard</a:t>
            </a:r>
            <a:br>
              <a:rPr lang="en-US"/>
            </a:br>
            <a:r>
              <a:rPr lang="en-US"/>
              <a:t>Type=TextOnly</a:t>
            </a:r>
            <a:br>
              <a:rPr lang="en-US"/>
            </a:br>
            <a:r>
              <a:rPr lang="en-US"/>
              <a:t>Variant=0</a:t>
            </a:r>
            <a:br>
              <a:rPr lang="en-US"/>
            </a:br>
            <a:r>
              <a:rPr lang="en-US"/>
              <a:t>FamilyID=AccentBoxWalbaum_Zero</a:t>
            </a:r>
            <a:endParaRPr/>
          </a:p>
        </p:txBody>
      </p:sp>
      <p:sp>
        <p:nvSpPr>
          <p:cNvPr id="138" name="Google Shape;138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301dc1eac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301dc1eac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b301dc1eac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37df2d5b0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37df2d5b0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237df2d5b0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37df2d5b05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37df2d5b05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237df2d5b05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37df2d5b05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37df2d5b05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237df2d5b05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37df2d5b05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37df2d5b05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237df2d5b05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37df2d5b05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37df2d5b05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237df2d5b05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37df2d5b05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37df2d5b05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237df2d5b05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37df2d5b05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37df2d5b05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237df2d5b05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37df2d5b05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37df2d5b05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237df2d5b05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37df2d5b05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37df2d5b05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237df2d5b05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b="0" sz="66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3600"/>
            </a:lvl1pPr>
            <a:lvl2pPr indent="0" lvl="1" marL="0" algn="r">
              <a:spcBef>
                <a:spcPts val="0"/>
              </a:spcBef>
              <a:buNone/>
              <a:defRPr sz="3600"/>
            </a:lvl2pPr>
            <a:lvl3pPr indent="0" lvl="2" marL="0" algn="r">
              <a:spcBef>
                <a:spcPts val="0"/>
              </a:spcBef>
              <a:buNone/>
              <a:defRPr sz="3600"/>
            </a:lvl3pPr>
            <a:lvl4pPr indent="0" lvl="3" marL="0" algn="r">
              <a:spcBef>
                <a:spcPts val="0"/>
              </a:spcBef>
              <a:buNone/>
              <a:defRPr sz="3600"/>
            </a:lvl4pPr>
            <a:lvl5pPr indent="0" lvl="4" marL="0" algn="r">
              <a:spcBef>
                <a:spcPts val="0"/>
              </a:spcBef>
              <a:buNone/>
              <a:defRPr sz="3600"/>
            </a:lvl5pPr>
            <a:lvl6pPr indent="0" lvl="5" marL="0" algn="r">
              <a:spcBef>
                <a:spcPts val="0"/>
              </a:spcBef>
              <a:buNone/>
              <a:defRPr sz="3600"/>
            </a:lvl6pPr>
            <a:lvl7pPr indent="0" lvl="6" marL="0" algn="r">
              <a:spcBef>
                <a:spcPts val="0"/>
              </a:spcBef>
              <a:buNone/>
              <a:defRPr sz="3600"/>
            </a:lvl7pPr>
            <a:lvl8pPr indent="0" lvl="7" marL="0" algn="r">
              <a:spcBef>
                <a:spcPts val="0"/>
              </a:spcBef>
              <a:buNone/>
              <a:defRPr sz="3600"/>
            </a:lvl8pPr>
            <a:lvl9pPr indent="0" lvl="8" marL="0" algn="r">
              <a:spcBef>
                <a:spcPts val="0"/>
              </a:spcBef>
              <a:buNone/>
              <a:defRPr sz="3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/>
          <p:nvPr>
            <p:ph idx="2" type="title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fmla="val 60423" name="adj"/>
            </a:avLst>
          </a:prstGeom>
          <a:solidFill>
            <a:srgbClr val="003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4 pictures">
  <p:cSld name="Title and Content with 4 picture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E8E8E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/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/>
          <p:nvPr>
            <p:ph idx="2" type="pic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3" type="body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4" type="body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/>
          <p:nvPr>
            <p:ph idx="5" type="pic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/>
          <p:nvPr>
            <p:ph idx="6" type="pic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/>
          <p:nvPr>
            <p:ph idx="7" type="pic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pictures">
  <p:cSld name="Title and Content with picture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>
            <p:ph idx="2" type="pic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2 pictures">
  <p:cSld name="Title and Content with 2 picture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>
            <p:ph idx="2" type="pic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/>
          <p:nvPr>
            <p:ph idx="3" type="pic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/>
          <p:nvPr>
            <p:ph idx="1" type="body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>
            <p:ph idx="2" type="pic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/>
          <p:nvPr>
            <p:ph idx="3" type="pic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/>
          <p:nvPr>
            <p:ph idx="4" type="pic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/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/>
          <p:nvPr>
            <p:ph idx="5" type="pic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/>
          <p:nvPr>
            <p:ph idx="6" type="pic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7" type="body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8" type="body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9" type="body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3" type="body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/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" type="body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10"/>
          <p:cNvSpPr txBox="1"/>
          <p:nvPr>
            <p:ph idx="2" type="body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3" type="body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0"/>
          <p:cNvSpPr txBox="1"/>
          <p:nvPr>
            <p:ph idx="4" type="body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3 column">
  <p:cSld name="Comparison 3 colum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/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1"/>
          <p:cNvSpPr txBox="1"/>
          <p:nvPr>
            <p:ph idx="2" type="body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3" type="body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2" name="Google Shape;92;p11"/>
          <p:cNvSpPr txBox="1"/>
          <p:nvPr>
            <p:ph idx="4" type="body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/>
          <p:nvPr>
            <p:ph idx="5" type="body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5" name="Google Shape;95;p11"/>
          <p:cNvSpPr txBox="1"/>
          <p:nvPr>
            <p:ph idx="6" type="body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3 pictures">
  <p:cSld name="Title and Content with 3 picture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2"/>
          <p:cNvSpPr/>
          <p:nvPr>
            <p:ph idx="2" type="pic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/>
          <p:nvPr>
            <p:ph idx="3" type="pic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/>
          <p:nvPr>
            <p:ph idx="4" type="pic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5" name="Google Shape;115;p15"/>
          <p:cNvSpPr txBox="1"/>
          <p:nvPr>
            <p:ph idx="2" type="body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6"/>
          <p:cNvSpPr/>
          <p:nvPr>
            <p:ph idx="2" type="pic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2" name="Google Shape;122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6.gif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3.xml"/><Relationship Id="rId1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i="0" sz="4400" u="none" cap="none" strike="noStrik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568" y="-273096"/>
            <a:ext cx="1469263" cy="1469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  <p:sldLayoutId id="2147483662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70136"/>
          <a:stretch/>
        </p:blipFill>
        <p:spPr>
          <a:xfrm>
            <a:off x="0" y="4810124"/>
            <a:ext cx="12194100" cy="20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4276" y="2356640"/>
            <a:ext cx="12192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ĐỒNG ĐÁNH GIÁ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105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HỌC PHẦN PHÁT TRIỂN ỨNG DỤNG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4055" y="3704100"/>
            <a:ext cx="1218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Development Course Evaluation Committee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4276" y="130960"/>
            <a:ext cx="12192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105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TRƯỜNG ĐẠI HỌC LẠC HỒNG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105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KHOA CÔNG NGHỆ THÔNG TIN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5352" y="1099315"/>
            <a:ext cx="209241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0" y="5642304"/>
            <a:ext cx="1218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1" lang="en-US" sz="22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Đồng Nai, ngày 22 tháng 12 năm 2025</a:t>
            </a:r>
            <a:endParaRPr b="1" i="1" sz="2200" u="none" cap="none" strike="noStrike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17" title="LHU&amp;ASU-VIET 1@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5896" y="1099326"/>
            <a:ext cx="2577679" cy="1156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ctrTitle"/>
          </p:nvPr>
        </p:nvSpPr>
        <p:spPr>
          <a:xfrm>
            <a:off x="195575" y="1267875"/>
            <a:ext cx="11779200" cy="25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100000"/>
              <a:buFont typeface="Quattrocento Sans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BÁO CÁO TIẾN ĐỘ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100000"/>
              <a:buFont typeface="Quattrocento Sans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HỌC PHẦN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100000"/>
              <a:buFont typeface="Quattrocento Sans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PHÁT TRIỂN ỨNG DỤNG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8"/>
          <p:cNvSpPr txBox="1"/>
          <p:nvPr>
            <p:ph idx="1" type="subTitle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Tháng 12/2025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/>
        </p:nvSpPr>
        <p:spPr>
          <a:xfrm>
            <a:off x="0" y="3639150"/>
            <a:ext cx="12192000" cy="1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GVHD: Nguyễn Minh Phúc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Võ Quốc Bảo - 122001605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 Trần Nam - 122001208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0" y="1061775"/>
            <a:ext cx="12192000" cy="20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-US" sz="35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 DỰNG MÔ HÌNH PHÂN TÍCH MỨC ĐỘ HOÀN THÀNH VÀ GỢI Í CẤP ĐỘ HỌC TẬP TIẾP THEO CHO SINH VIÊN </a:t>
            </a:r>
            <a:endParaRPr sz="3500">
              <a:solidFill>
                <a:srgbClr val="00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GIỚI THIỆU ĐỀ TÀI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MỤC TIÊU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KẾT QUẢ MONG ĐỢI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TIẾN ĐỘ THỰC HIỆN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Tóm tắt tiến độ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Các mục tiêu đã đạt được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Các vấn đề xảy ra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Các biện pháp đã được thực hiện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Kế hoạch tiếp theo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Đánh giá tiến độ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Tài liệu hỗ trợ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0"/>
          <p:cNvSpPr txBox="1"/>
          <p:nvPr>
            <p:ph idx="12" type="sldNum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20"/>
          <p:cNvSpPr txBox="1"/>
          <p:nvPr>
            <p:ph idx="2" type="title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 BÁO CÁO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 đề tài</a:t>
            </a:r>
            <a:endParaRPr/>
          </a:p>
        </p:txBody>
      </p:sp>
      <p:sp>
        <p:nvSpPr>
          <p:cNvPr id="164" name="Google Shape;164;p21"/>
          <p:cNvSpPr txBox="1"/>
          <p:nvPr>
            <p:ph idx="1" type="body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Bối cảnh: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Sự phát triển của các nền tảng học tập trực tuyến tạo ra lượng lớn dữ liệu hành vi của sinh viên.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Vấn đề: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Việc đánh giá chỉ dựa trên điểm số cuối kỳ chưa phản ánh đầy đủ quá trình học tập và năng lực cá nhân.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Giải pháp: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Sử dụng Khai thác dữ liệu giáo dục để phân tích tiến độ liên tục và hỗ trợ sinh viên kịp thời.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1"/>
          <p:cNvSpPr txBox="1"/>
          <p:nvPr>
            <p:ph idx="12" type="sldNum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21"/>
          <p:cNvSpPr txBox="1"/>
          <p:nvPr>
            <p:ph idx="2" type="title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Mục tiêu</a:t>
            </a:r>
            <a:endParaRPr/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108000" y="1030525"/>
            <a:ext cx="11976000" cy="45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Mục tiêu chính: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Nghiên cứu và đề xuất mô hình phân tích mức độ hoàn thành để gợi ý lộ trình học tập cá nhân hóa.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Mục tiêu chi tiết: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Phân tích các loại dữ liệu học tập và hành vi tương tác trên hệ thống trực tuyến.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Chuẩn hóa dữ liệu đầu vào về thang điểm 1–10 để đánh giá các tiêu chí.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Phân loại sinh viên thành các nhóm: Thấp – Trung bình – Cao.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●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Xây dựng mô hình logic gợi ý bài tập hoặc cấp độ tiếp theo phù hợp.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2"/>
          <p:cNvSpPr txBox="1"/>
          <p:nvPr>
            <p:ph idx="12" type="sldNum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22"/>
          <p:cNvSpPr txBox="1"/>
          <p:nvPr>
            <p:ph idx="2" type="title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Kết quả mong đợi</a:t>
            </a:r>
            <a:endParaRPr/>
          </a:p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144475" y="902350"/>
            <a:ext cx="12047400" cy="4772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Mô hình đánh giá: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Xây dựng bộ chỉ số đánh giá khách quan dựa trên: Điểm bài tập, điểm kiểm tra, mức độ tham gia, thời gian học và tỷ lệ hoàn thành.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Khả năng cá nhân hóa: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Hệ thống có khả năng đưa ra các gợi ý cụ thể như học lại kiến thức cơ bản, củng cố kiến thức hoặc nâng cao kiến thức.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Tính ứng dụng: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Làm nền tảng vững chắc cho việc triển khai hệ thống hoàn chỉnh trong các giai đoạn sau.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23"/>
          <p:cNvSpPr txBox="1"/>
          <p:nvPr>
            <p:ph idx="2" type="title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Tiến độ thực hiện</a:t>
            </a:r>
            <a:endParaRPr/>
          </a:p>
        </p:txBody>
      </p:sp>
      <p:sp>
        <p:nvSpPr>
          <p:cNvPr id="191" name="Google Shape;191;p24"/>
          <p:cNvSpPr txBox="1"/>
          <p:nvPr>
            <p:ph idx="1" type="body"/>
          </p:nvPr>
        </p:nvSpPr>
        <p:spPr>
          <a:xfrm>
            <a:off x="122350" y="1074775"/>
            <a:ext cx="7635300" cy="45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Nghiên cứu lý thuyết: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Hoàn thành tìm hiểu về Khai thác dữ liệu giáo dục và Hệ thống gợi ý 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Phân tích hệ thống: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Hoàn thiện sơ đồ Use Case và Activity Diagram để mô tả luồng xử lý dữ liệu.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4"/>
          <p:cNvSpPr txBox="1"/>
          <p:nvPr>
            <p:ph idx="12" type="sldNum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24"/>
          <p:cNvSpPr txBox="1"/>
          <p:nvPr>
            <p:ph idx="2" type="title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Tóm tắt tiến độ</a:t>
            </a:r>
            <a:endParaRPr/>
          </a:p>
        </p:txBody>
      </p:sp>
      <p:pic>
        <p:nvPicPr>
          <p:cNvPr id="194" name="Google Shape;19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7650" y="1074775"/>
            <a:ext cx="4129551" cy="362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Tiến độ thực hiện</a:t>
            </a:r>
            <a:endParaRPr/>
          </a:p>
        </p:txBody>
      </p:sp>
      <p:sp>
        <p:nvSpPr>
          <p:cNvPr id="201" name="Google Shape;201;p25"/>
          <p:cNvSpPr txBox="1"/>
          <p:nvPr>
            <p:ph idx="1" type="body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Mô hình phân tích: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Xây dựng thành công bộ quy trình: Thu thập -&gt;Chuẩn hóa -&gt; Tính toán điểm hoàn thành -&gt; Phân loại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Thuật toán dự đoán: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Nghiên cứu và áp dụng mô hình </a:t>
            </a: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giúp xử lý dữ liệu nhiều chiều và tránh quá khớp.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Thiết kế chức năng: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Xác định rõ đối tượng sử dụng (Sinh viên, Giảng viên) và các chức năng cốt lõi của hệ thống.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5"/>
          <p:cNvSpPr txBox="1"/>
          <p:nvPr>
            <p:ph idx="12" type="sldNum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25"/>
          <p:cNvSpPr txBox="1"/>
          <p:nvPr>
            <p:ph idx="2" type="title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Các mục tiêu đã đạt được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Tiến độ thực hiện</a:t>
            </a:r>
            <a:endParaRPr/>
          </a:p>
        </p:txBody>
      </p:sp>
      <p:sp>
        <p:nvSpPr>
          <p:cNvPr id="210" name="Google Shape;210;p26"/>
          <p:cNvSpPr txBox="1"/>
          <p:nvPr>
            <p:ph idx="1" type="body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Vấn đề: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Dữ liệu thu thập có đơn vị khác nhau (điểm số, phút, số lần truy cập) gây khó khăn cho việc đánh giá tổng quát.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Biện pháp: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Thực hiện chuẩn hóa toàn bộ dữ liệu về thang điểm 1–10 để đảm bảo tính đồng nhất khi đưa vào mô hình phân tích.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Hạn chế: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Dữ liệu hiện tại vẫn mang tính giả lập, chưa phản ánh hết sự phức tạp của thực tế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6"/>
          <p:cNvSpPr txBox="1"/>
          <p:nvPr>
            <p:ph idx="2" type="title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các vấn để xảy ra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Tiến độ thực hiện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Xây dựng hệ thống: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Triển khai phần mềm hoàn chỉnh, huấn luyện mô hình trên dữ liệu học tập thực tế.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Tối ưu thuật toán: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So sánh Random Forest với các thuật toán khác (Decision Tree, Gradient Boosting, Neural Network) để tìm mô hình tối ưu nhất.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Giao diện Dashboard: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Xây dựng giao diện trực quan cho giảng viên theo dõi tiến độ và sinh viên nhận gợi ý.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7"/>
          <p:cNvSpPr txBox="1"/>
          <p:nvPr>
            <p:ph idx="12" type="sldNum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27"/>
          <p:cNvSpPr txBox="1"/>
          <p:nvPr>
            <p:ph idx="2" type="title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Kế hoạch tiếp theo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Tiến độ thực hiện</a:t>
            </a:r>
            <a:endParaRPr/>
          </a:p>
        </p:txBody>
      </p:sp>
      <p:sp>
        <p:nvSpPr>
          <p:cNvPr id="228" name="Google Shape;228;p28"/>
          <p:cNvSpPr txBox="1"/>
          <p:nvPr>
            <p:ph idx="1" type="body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Tiến độ: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Đảm bảo đúng lộ trình của học phần Phát triển ứng dụng.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Chất lượng: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Mô hình đã được trình bày rõ ràng về mặt nguyên lý và quy trình xử lý, đảm bảo tính logic và khoa học.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Khả năng áp dụng: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Mô hình có tính khả thi cao để tích hợp vào các nền tảng LMS phổ biến như Moodle.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8"/>
          <p:cNvSpPr txBox="1"/>
          <p:nvPr>
            <p:ph idx="12" type="sldNum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" name="Google Shape;230;p28"/>
          <p:cNvSpPr txBox="1"/>
          <p:nvPr>
            <p:ph idx="2" type="title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Đánh giá tiến độ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descr="woman writing on a dry erase board" id="236" name="Google Shape;236;p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58" r="59" t="0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" id="237" name="Google Shape;237;p29"/>
          <p:cNvPicPr preferRelativeResize="0"/>
          <p:nvPr>
            <p:ph idx="5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9"/>
          <p:cNvSpPr txBox="1"/>
          <p:nvPr>
            <p:ph idx="1" type="body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Nguyễn Võ Quốc Bảo - Lê Trần Nam</a:t>
            </a:r>
            <a:endParaRPr/>
          </a:p>
        </p:txBody>
      </p:sp>
      <p:pic>
        <p:nvPicPr>
          <p:cNvPr descr="Envelope" id="239" name="Google Shape;239;p29"/>
          <p:cNvPicPr preferRelativeResize="0"/>
          <p:nvPr>
            <p:ph idx="6" type="pic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9"/>
          <p:cNvSpPr txBox="1"/>
          <p:nvPr>
            <p:ph idx="3" type="body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nguyenvoquocbao2311@gmail.com</a:t>
            </a:r>
            <a:endParaRPr/>
          </a:p>
        </p:txBody>
      </p:sp>
      <p:pic>
        <p:nvPicPr>
          <p:cNvPr descr="Monitor" id="241" name="Google Shape;241;p29"/>
          <p:cNvPicPr preferRelativeResize="0"/>
          <p:nvPr>
            <p:ph idx="7" type="pic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9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